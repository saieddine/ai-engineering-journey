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HANDBOOK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19659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Retrieval-Augmented Generation (RAG) Ingestion Pipeline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2194560" cy="0"/>
          </a:xfrm>
          <a:prstGeom prst="line">
            <a:avLst/>
          </a:prstGeom>
          <a:noFill/>
          <a:ln w="25400">
            <a:solidFill>
              <a:srgbClr val="B08D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343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Saif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engineering notebook — shared on GitHub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RAG?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— an LLM that answers using real, searched documents instead of memory alone.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5EE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3060" y="242316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62306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asks a question about course material.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46120" y="34747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8D3F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7472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BFAF5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57700" y="242316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45770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74720" y="3246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57600" y="37033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searches the knowledge base for relevant chunks.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34747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8D3F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30936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5EE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92340" y="242316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729234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9360" y="3246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92240" y="37033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text is added to the prompt as context.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15400" y="34747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8D3F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14400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BFAF5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26980" y="242316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1012698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144000" y="3246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326880" y="37033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writes an answer grounded in that real text.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Handbook — Week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vs. Fine-Tuning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uses RAG, not fine-tuning.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343400" y="1965960"/>
            <a:ext cx="3429000" cy="3520440"/>
          </a:xfrm>
          <a:prstGeom prst="rect">
            <a:avLst/>
          </a:prstGeom>
          <a:solidFill>
            <a:srgbClr val="F7F5EE"/>
          </a:solidFill>
          <a:ln/>
        </p:spPr>
      </p:sp>
      <p:sp>
        <p:nvSpPr>
          <p:cNvPr id="5" name="Shape 3"/>
          <p:cNvSpPr/>
          <p:nvPr/>
        </p:nvSpPr>
        <p:spPr>
          <a:xfrm>
            <a:off x="8001000" y="1965960"/>
            <a:ext cx="3566160" cy="35204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43400" y="207568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01000" y="20756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(our choice)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storage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2651760"/>
            <a:ext cx="3154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Baked into model weights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38160" y="265176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outside, in a document store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364992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knowledge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3364992"/>
            <a:ext cx="3154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retraining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38160" y="336499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edit a document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078224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4078224"/>
            <a:ext cx="3154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GPU training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38160" y="4078224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storage + search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791456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transparency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4791456"/>
            <a:ext cx="3154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trace an answer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38160" y="4791456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source page is known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Handbook — Week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Ingestion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passes through four stages, always in the same order.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2377440" cy="1920240"/>
          </a:xfrm>
          <a:prstGeom prst="roundRect">
            <a:avLst>
              <a:gd name="adj" fmla="val 4762"/>
            </a:avLst>
          </a:prstGeom>
          <a:solidFill>
            <a:srgbClr val="F7F5E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31546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course material — slides, labs, textbook chapters.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54680" y="30632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08D3F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0" y="2377440"/>
            <a:ext cx="2377440" cy="1920240"/>
          </a:xfrm>
          <a:prstGeom prst="roundRect">
            <a:avLst>
              <a:gd name="adj" fmla="val 4762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840480" y="31546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raw text per page using PyMuPDF (fitz).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35040" y="30632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08D3F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537960" y="2377440"/>
            <a:ext cx="2377440" cy="1920240"/>
          </a:xfrm>
          <a:prstGeom prst="roundRect">
            <a:avLst>
              <a:gd name="adj" fmla="val 4762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720840" y="31546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whitespace, blank lines, and stray spacing.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15400" y="30632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08D3F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418320" y="2377440"/>
            <a:ext cx="2377440" cy="1920240"/>
          </a:xfrm>
          <a:prstGeom prst="roundRect">
            <a:avLst>
              <a:gd name="adj" fmla="val 4762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941832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601200" y="31546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cleaned text into topic-based chunks.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47548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numbers are captured in the Reader and preserved through every later stage.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Handbook — Week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Reader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imported as </a:t>
            </a:r>
            <a:pPr indent="0" marL="0">
              <a:buNone/>
            </a:pPr>
            <a:r>
              <a:rPr lang="en-US" sz="1500" b="1" dirty="0">
                <a:solidFill>
                  <a:srgbClr val="B08D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fitz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(its historical library name).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PDF and loops through every page.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raw text with page.get_text().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page number attached to every page's 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5120640" cy="219456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114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one entry per page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"page": 1, "text": "..."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"page": 2, "text": "..." 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89320" y="1874520"/>
            <a:ext cx="5440680" cy="4297680"/>
          </a:xfrm>
          <a:prstGeom prst="roundRect">
            <a:avLst>
              <a:gd name="adj" fmla="val 1277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210312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F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fitz  # PyMuPDF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F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read_pdf(path):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F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 = fitz.open(path)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F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pages = []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F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range(len(doc)):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F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 = doc[i].get_text()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F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pages.append({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F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"page": i + 1,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F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"text": 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F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F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doc.close()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F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pages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Handbook — Week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Cleaner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small functions, each fixing one specific extraction problem — chained by clean_text().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7F5EE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23570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2357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09397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normalize_whitespace()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45973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tabs and odd spacing into normal spaces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96596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7F5EE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5352" y="223570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245352" y="22357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03720" y="209397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remove_extra_spaces()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245973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repeated spaces into one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BFAF5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51586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5158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3741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remove_blank_lines()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73989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empty lines left by slide layouts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324612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BFAF5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45352" y="351586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245352" y="35158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33741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strip_text()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373989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Trims leading and trailing whitespace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7F5EE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479602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7960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46542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clean_text()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502005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steps above in the right order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80760" y="452628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7F5EE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45352" y="479602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6245352" y="47960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03720" y="46542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clean_pages()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03720" y="502005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clean_text() across every page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Handbook — Week 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chunk is the small unit of text that gets embedded and searched.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57800" cy="4297680"/>
          </a:xfrm>
          <a:prstGeom prst="roundRect">
            <a:avLst>
              <a:gd name="adj" fmla="val 1489"/>
            </a:avLst>
          </a:prstGeom>
          <a:solidFill>
            <a:srgbClr val="F7F5EE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574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trade-off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chunks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precise search, less context
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chunks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 context, less precise
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3794760"/>
            <a:ext cx="4800600" cy="0"/>
          </a:xfrm>
          <a:prstGeom prst="line">
            <a:avLst/>
          </a:prstGeom>
          <a:noFill/>
          <a:ln w="12700">
            <a:solidFill>
              <a:srgbClr val="D8D5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9776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topic-based chunking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38912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at natural topic boundaries (headings, subject changes) instead of a fixed character count, so each chunk stays meaningful on its own.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548640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topics are split further into sub-chunks, keeping the same topic label.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1874520"/>
            <a:ext cx="5349240" cy="4297680"/>
          </a:xfrm>
          <a:prstGeom prst="roundRect">
            <a:avLst>
              <a:gd name="adj" fmla="val 1489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1031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 later versions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26060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29260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Neighboring chunks share a little text at their boundary so an idea spanning the cut isn't lost.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39776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chunking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429768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nested inside larger chunks, for multi-level retrieval.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Handbook — Week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chunk carries five fields describing where it came from.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084832" cy="3291840"/>
          </a:xfrm>
          <a:prstGeom prst="roundRect">
            <a:avLst>
              <a:gd name="adj" fmla="val 3070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28600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D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chunk_id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this exact chunk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43784" y="2011680"/>
            <a:ext cx="2084832" cy="3291840"/>
          </a:xfrm>
          <a:prstGeom prst="roundRect">
            <a:avLst>
              <a:gd name="adj" fmla="val 3070"/>
            </a:avLst>
          </a:prstGeom>
          <a:solidFill>
            <a:srgbClr val="F7F5EE"/>
          </a:solidFill>
          <a:ln/>
        </p:spPr>
      </p:sp>
      <p:sp>
        <p:nvSpPr>
          <p:cNvPr id="8" name="Text 6"/>
          <p:cNvSpPr/>
          <p:nvPr/>
        </p:nvSpPr>
        <p:spPr>
          <a:xfrm>
            <a:off x="2953512" y="228600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80944" y="292608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PDF page number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47488" y="2011680"/>
            <a:ext cx="2084832" cy="3291840"/>
          </a:xfrm>
          <a:prstGeom prst="roundRect">
            <a:avLst>
              <a:gd name="adj" fmla="val 3070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5157216" y="228600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D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84648" y="292608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course the document belongs to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51192" y="2011680"/>
            <a:ext cx="2084832" cy="3291840"/>
          </a:xfrm>
          <a:prstGeom prst="roundRect">
            <a:avLst>
              <a:gd name="adj" fmla="val 3070"/>
            </a:avLst>
          </a:prstGeom>
          <a:solidFill>
            <a:srgbClr val="F7F5EE"/>
          </a:solidFill>
          <a:ln/>
        </p:spPr>
      </p:sp>
      <p:sp>
        <p:nvSpPr>
          <p:cNvPr id="14" name="Text 12"/>
          <p:cNvSpPr/>
          <p:nvPr/>
        </p:nvSpPr>
        <p:spPr>
          <a:xfrm>
            <a:off x="7360920" y="228600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88352" y="292608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lecture or lab this chunk is from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454896" y="2011680"/>
            <a:ext cx="2084832" cy="3291840"/>
          </a:xfrm>
          <a:prstGeom prst="roundRect">
            <a:avLst>
              <a:gd name="adj" fmla="val 3070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9564624" y="228600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D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592056" y="292608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label from topic-based chunking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5532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gives traceability, per-course filtering, and easy debugging.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Handbook — Week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Decisions — This Week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257800" cy="1371600"/>
          </a:xfrm>
          <a:prstGeom prst="roundRect">
            <a:avLst>
              <a:gd name="adj" fmla="val 4667"/>
            </a:avLst>
          </a:prstGeom>
          <a:solidFill>
            <a:srgbClr val="F7F5EE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6459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37160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Topic-based chunking, not page-based chunking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234440"/>
            <a:ext cx="5257800" cy="1371600"/>
          </a:xfrm>
          <a:prstGeom prst="roundRect">
            <a:avLst>
              <a:gd name="adj" fmla="val 4667"/>
            </a:avLst>
          </a:prstGeom>
          <a:solidFill>
            <a:srgbClr val="F7F5EE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81928" y="16459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281928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95160" y="137160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Version 1 before advanced AI features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257800" cy="1371600"/>
          </a:xfrm>
          <a:prstGeom prst="roundRect">
            <a:avLst>
              <a:gd name="adj" fmla="val 4667"/>
            </a:avLst>
          </a:prstGeom>
          <a:solidFill>
            <a:srgbClr val="F7F5EE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21868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218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2944368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page numbers through the whole pipeline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2807208"/>
            <a:ext cx="5257800" cy="1371600"/>
          </a:xfrm>
          <a:prstGeom prst="roundRect">
            <a:avLst>
              <a:gd name="adj" fmla="val 4667"/>
            </a:avLst>
          </a:prstGeom>
          <a:solidFill>
            <a:srgbClr val="F7F5EE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1928" y="321868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281928" y="3218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95160" y="2944368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LLM, separate knowledge bases per course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379976"/>
            <a:ext cx="5257800" cy="1371600"/>
          </a:xfrm>
          <a:prstGeom prst="roundRect">
            <a:avLst>
              <a:gd name="adj" fmla="val 4667"/>
            </a:avLst>
          </a:prstGeom>
          <a:solidFill>
            <a:srgbClr val="F7F5EE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791456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7914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4517136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Layer after retrieval, instead of LLM cleanup during ingestion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80760" y="4379976"/>
            <a:ext cx="5257800" cy="1371600"/>
          </a:xfrm>
          <a:prstGeom prst="roundRect">
            <a:avLst>
              <a:gd name="adj" fmla="val 4667"/>
            </a:avLst>
          </a:prstGeom>
          <a:solidFill>
            <a:srgbClr val="F7F5EE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4791456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6281928" y="47914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95160" y="4517136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now for hierarchical chunking and overlap later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Handbook — Week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Postponed on purpose — the roadmap for Version 2.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233156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37360"/>
            <a:ext cx="2386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correction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29000" y="173736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233156"/>
          </a:solidFill>
          <a:ln/>
        </p:spPr>
      </p:sp>
      <p:sp>
        <p:nvSpPr>
          <p:cNvPr id="7" name="Text 5"/>
          <p:cNvSpPr/>
          <p:nvPr/>
        </p:nvSpPr>
        <p:spPr>
          <a:xfrm>
            <a:off x="3538728" y="1737360"/>
            <a:ext cx="2386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chunks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233156"/>
          </a:solidFill>
          <a:ln/>
        </p:spPr>
      </p:sp>
      <p:sp>
        <p:nvSpPr>
          <p:cNvPr id="9" name="Text 7"/>
          <p:cNvSpPr/>
          <p:nvPr/>
        </p:nvSpPr>
        <p:spPr>
          <a:xfrm>
            <a:off x="6327648" y="1737360"/>
            <a:ext cx="2386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006840" y="173736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233156"/>
          </a:solidFill>
          <a:ln/>
        </p:spPr>
      </p:sp>
      <p:sp>
        <p:nvSpPr>
          <p:cNvPr id="11" name="Text 9"/>
          <p:cNvSpPr/>
          <p:nvPr/>
        </p:nvSpPr>
        <p:spPr>
          <a:xfrm>
            <a:off x="9116568" y="1737360"/>
            <a:ext cx="2386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detection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233156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743200"/>
            <a:ext cx="2386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extraction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29000" y="274320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233156"/>
          </a:solidFill>
          <a:ln/>
        </p:spPr>
      </p:sp>
      <p:sp>
        <p:nvSpPr>
          <p:cNvPr id="15" name="Text 13"/>
          <p:cNvSpPr/>
          <p:nvPr/>
        </p:nvSpPr>
        <p:spPr>
          <a:xfrm>
            <a:off x="3538728" y="2743200"/>
            <a:ext cx="2386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extraction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274320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233156"/>
          </a:solidFill>
          <a:ln/>
        </p:spPr>
      </p:sp>
      <p:sp>
        <p:nvSpPr>
          <p:cNvPr id="17" name="Text 15"/>
          <p:cNvSpPr/>
          <p:nvPr/>
        </p:nvSpPr>
        <p:spPr>
          <a:xfrm>
            <a:off x="6327648" y="2743200"/>
            <a:ext cx="2386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chunk sizes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10881360" cy="0"/>
          </a:xfrm>
          <a:prstGeom prst="line">
            <a:avLst/>
          </a:prstGeom>
          <a:noFill/>
          <a:ln w="12700">
            <a:solidFill>
              <a:srgbClr val="3A4A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206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was about laying the foundation correctly — clean data in, clean chunks out, and every decision written down so future-me remembers why.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Handbook — Week 2  ·  by Saif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2026-07-27T20:57:01Z</dcterms:created>
  <dcterms:modified xsi:type="dcterms:W3CDTF">2026-07-27T20:57:01Z</dcterms:modified>
</cp:coreProperties>
</file>